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A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>
        <p:scale>
          <a:sx n="98" d="100"/>
          <a:sy n="98" d="100"/>
        </p:scale>
        <p:origin x="78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B3818-F385-46ED-B7C1-E754E563A842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98AFA-3F4F-4064-ABA3-F51676F3915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899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E672A-E0E4-4F8A-9962-2FB71B4C7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CD0E961-83A1-4B89-8DE6-53D526145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A592AE6-FE75-41E2-B39E-ACB7F7A6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EDABFA5-B5F3-45E4-9248-0CF2B598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1C16CA-41D8-4447-B3EE-67263624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688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10CA0-121F-4301-BCA2-BB7D51A0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C4F864A-D094-45B5-B129-A913D263E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807812-7925-43E2-9191-B759DEB1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167EA6-FF2F-47FB-B155-EAAFFA63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614226D-B523-4885-8FA8-2330DA8F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45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2D919-98B8-484C-AB0B-E396C0F1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FB4AADB-7E7A-4FB4-8D04-85D2725D6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05A6CFF-1F50-4F8D-99C2-7AB248CB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B356B1-1635-409E-938F-AC8DCFC5B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CE85163-6491-4022-943C-ED861662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7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DA622-E353-4A1C-A42D-9D055725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2FC8BE-70DF-4B63-B4BE-2137A2639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EF3BB5-81F0-4EDC-B9E9-2E6749D73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6C7D3AE-03C4-4DE7-8C7D-F99FFCDD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3E28943-A01B-4CA6-9B01-39CFB038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2D33EC9-FCFF-43A0-87FF-CEBA3E9D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599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BE15C-5D0E-4726-8443-A16AD7EF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50C70B9-BF04-48F0-AB8A-A2E854C9A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387FF0B-CA65-4BA7-AFC9-529A4B434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9CCEBA9-B0D9-4BE1-9C08-EC3CD8F2A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4BBAEC2-AB26-4C61-BB6F-853DE974D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BE17B6F-5119-4D9C-AA9B-C13FB4B8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26628CA-7B81-4878-8733-73F66913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F3C0D36-171F-4892-8861-CB355A92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243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302AD-EB3E-4622-883E-12C62F1D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3064721-BC87-4822-B162-8BA18F24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C8AB558-C2CD-43E5-9CB6-FB788345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6BCD7CA-5621-4D41-90F6-B18564C9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445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F051561-A285-4EFB-B7A6-465EA53B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A0999C8-6EFD-4754-8A15-F582A8BF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665A3DD-0DC8-49EF-9C70-A231F0A2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309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687FD-3058-4EB9-8231-EAB746D9D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56D61EA-9BFD-44FE-A744-F1C74065D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277A212-1CF6-4FCE-AFFD-021D8B4D7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42F9F7B-53F9-4A22-9DFD-1A5D9F70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BE5D5B8-9B53-4A56-B0F0-C6F3D606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A9ABE69-64C7-47F7-ADC5-F5505338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712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0EAF3-8C17-46FA-BF49-6482D39E1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465FF1E-6D70-47D3-A5DC-ADEE0FED7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836EEC0-AB4E-4095-817D-2529F9FA5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0C1CAEA-1205-4CEC-81DF-8ABEA506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0515E6B-89E5-445A-BC76-7B7A96E8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2FF75E0-F6DD-45C2-B5C6-CD58C6E2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570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899C0-7FA4-4978-A1E4-196FF49E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DB74A3D-B7E0-4F93-BE39-C03188852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701C86-336A-49F1-A5DB-43B435FF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36BAE20-261D-488D-868D-341A4D28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08EE2B-A56E-419C-83A9-E22F8918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210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2326E6B-2F14-420B-847F-EA3AA48A7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C3D4173-9B60-49B3-A820-A87B8DF2A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F9C7153-19F5-48B6-89BB-1EF38E26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AD3B07-A9EB-4B3A-8B15-85C82026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0C3DC03-1A5F-4D3A-8526-06E07A16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345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AF68732-EB30-48EB-BBEF-3D5F7EE9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A4FE4FC-A4EB-41B1-9F64-77B591E19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36EBEA1-AAB7-456F-900D-DD5E3102C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1A88F-A325-421F-BF8A-4D4E3C293A57}" type="datetimeFigureOut">
              <a:rPr lang="uk-UA" smtClean="0"/>
              <a:t>11.11.2025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99F32A4-5914-444D-B332-D2DE17506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E8F7296-CF87-4A86-91DD-2440FD67B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FF0E7-7B32-41C7-9EB2-76A712146E9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005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emens-healthineers.com/perspectives/mso-digital-twin-mater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084507C9-231E-4CC2-A75C-D6FB80174350}"/>
              </a:ext>
            </a:extLst>
          </p:cNvPr>
          <p:cNvSpPr/>
          <p:nvPr/>
        </p:nvSpPr>
        <p:spPr>
          <a:xfrm>
            <a:off x="9444039" y="-5809"/>
            <a:ext cx="2747959" cy="63144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1E112434-C2B9-4D12-BDDF-472F0E0AAA01}"/>
              </a:ext>
            </a:extLst>
          </p:cNvPr>
          <p:cNvSpPr/>
          <p:nvPr/>
        </p:nvSpPr>
        <p:spPr>
          <a:xfrm>
            <a:off x="2" y="6314340"/>
            <a:ext cx="12191998" cy="27664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2DE8DB77-5648-4E73-9D9A-37ABC6541385}"/>
              </a:ext>
            </a:extLst>
          </p:cNvPr>
          <p:cNvSpPr/>
          <p:nvPr/>
        </p:nvSpPr>
        <p:spPr>
          <a:xfrm>
            <a:off x="2743199" y="-1183"/>
            <a:ext cx="6700839" cy="63144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Прямокутник 23">
            <a:extLst>
              <a:ext uri="{FF2B5EF4-FFF2-40B4-BE49-F238E27FC236}">
                <a16:creationId xmlns:a16="http://schemas.microsoft.com/office/drawing/2014/main" id="{030DE8A5-FB86-4F39-8BE8-1C688659F040}"/>
              </a:ext>
            </a:extLst>
          </p:cNvPr>
          <p:cNvSpPr/>
          <p:nvPr/>
        </p:nvSpPr>
        <p:spPr>
          <a:xfrm>
            <a:off x="0" y="-3521"/>
            <a:ext cx="2743200" cy="63167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3" name="Прямокутник 22">
            <a:extLst>
              <a:ext uri="{FF2B5EF4-FFF2-40B4-BE49-F238E27FC236}">
                <a16:creationId xmlns:a16="http://schemas.microsoft.com/office/drawing/2014/main" id="{FC1A2D93-C66E-48FE-84E3-AB357A2DBFAC}"/>
              </a:ext>
            </a:extLst>
          </p:cNvPr>
          <p:cNvSpPr/>
          <p:nvPr/>
        </p:nvSpPr>
        <p:spPr>
          <a:xfrm>
            <a:off x="-2" y="6593417"/>
            <a:ext cx="12192000" cy="2766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Місце для нижнього колонтитула 6">
            <a:extLst>
              <a:ext uri="{FF2B5EF4-FFF2-40B4-BE49-F238E27FC236}">
                <a16:creationId xmlns:a16="http://schemas.microsoft.com/office/drawing/2014/main" id="{DE165FDB-5F9E-46A0-87A1-D2FF9959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93417"/>
            <a:ext cx="12192000" cy="26458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ZDROJ: </a:t>
            </a:r>
            <a: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Siemens </a:t>
            </a:r>
            <a:r>
              <a:rPr lang="en-US" i="1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Healthineers</a:t>
            </a:r>
            <a:r>
              <a:rPr lang="en-US" i="1" dirty="0">
                <a:solidFill>
                  <a:schemeClr val="bg1"/>
                </a:solidFill>
              </a:rPr>
              <a:t> (2024) </a:t>
            </a:r>
            <a:endParaRPr lang="uk-UA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5ED47-4063-4C57-8852-44AEFB4E01FC}"/>
              </a:ext>
            </a:extLst>
          </p:cNvPr>
          <p:cNvSpPr txBox="1"/>
          <p:nvPr/>
        </p:nvSpPr>
        <p:spPr>
          <a:xfrm>
            <a:off x="15871" y="1094618"/>
            <a:ext cx="35988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ČO SÚ DIGITÁLNE DVOJČATÁ?</a:t>
            </a:r>
            <a:endParaRPr lang="uk-UA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AD86F-D66B-4CC6-935D-BB779045B4BD}"/>
              </a:ext>
            </a:extLst>
          </p:cNvPr>
          <p:cNvSpPr txBox="1"/>
          <p:nvPr/>
        </p:nvSpPr>
        <p:spPr>
          <a:xfrm>
            <a:off x="1960312" y="1097409"/>
            <a:ext cx="8282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MATER HOSPITAL DUBLIN + SIEMENS HEALTHINEERS (2024)</a:t>
            </a:r>
          </a:p>
          <a:p>
            <a:pPr algn="ctr"/>
            <a:r>
              <a:rPr lang="en-US" sz="13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Digital Twin </a:t>
            </a:r>
            <a:r>
              <a:rPr lang="en-US" sz="13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radiologického</a:t>
            </a:r>
            <a:r>
              <a:rPr lang="en-US" sz="13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oddelenia</a:t>
            </a:r>
            <a:endParaRPr lang="en-US" sz="13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0F6944-2337-4658-8C2B-608BBB11B255}"/>
              </a:ext>
            </a:extLst>
          </p:cNvPr>
          <p:cNvSpPr txBox="1"/>
          <p:nvPr/>
        </p:nvSpPr>
        <p:spPr>
          <a:xfrm>
            <a:off x="15869" y="2644936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✅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VÝHODY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Personalizovaná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medicína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Zníženie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čakacích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dôb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Úspora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nákladov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Prediktívna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údržba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528D5-356C-4EBF-98ED-57B1677FA670}"/>
              </a:ext>
            </a:extLst>
          </p:cNvPr>
          <p:cNvSpPr txBox="1"/>
          <p:nvPr/>
        </p:nvSpPr>
        <p:spPr>
          <a:xfrm>
            <a:off x="15869" y="3697020"/>
            <a:ext cx="25740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⚠️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VÝZVY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Vysoké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investície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Bezpečnosť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dát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Chýbajúce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štandardy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Výpočtová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náročnosť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AA6AFC-E6F7-48B0-84D0-D84A685EAAAC}"/>
              </a:ext>
            </a:extLst>
          </p:cNvPr>
          <p:cNvSpPr txBox="1"/>
          <p:nvPr/>
        </p:nvSpPr>
        <p:spPr>
          <a:xfrm>
            <a:off x="99218" y="6333181"/>
            <a:ext cx="1198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RAST TRHU A BUDÚCNOSŤ  2025: $4.47B ━━━━━━━━➤ 2030: $59.94B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768C92D-43B6-4259-845A-96B7136ED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340" y="2939502"/>
            <a:ext cx="4430427" cy="32535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4992D2-2CBC-47B9-AC32-51DD59041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130" y="1557189"/>
            <a:ext cx="2742870" cy="37436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E78D11-D592-4939-B862-9809E05153E0}"/>
              </a:ext>
            </a:extLst>
          </p:cNvPr>
          <p:cNvSpPr txBox="1"/>
          <p:nvPr/>
        </p:nvSpPr>
        <p:spPr>
          <a:xfrm>
            <a:off x="15869" y="1387006"/>
            <a:ext cx="2727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Virtuálne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repliky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fyzických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systémov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 real-time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aktualizáciou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pomocou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• IoT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senzory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• AI &amp; Machine Learning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• Big Data analytics</a:t>
            </a:r>
            <a:endParaRPr lang="uk-U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1AFCF-749C-4B92-9CAB-4C0634F10AA9}"/>
              </a:ext>
            </a:extLst>
          </p:cNvPr>
          <p:cNvSpPr txBox="1"/>
          <p:nvPr/>
        </p:nvSpPr>
        <p:spPr>
          <a:xfrm>
            <a:off x="1815303" y="14122"/>
            <a:ext cx="85613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500" b="1" u="sng" spc="1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DIGITÁLNE DVOJČATÁ V ZDRAVOTNÍCTVE</a:t>
            </a:r>
            <a:endParaRPr lang="uk-UA" sz="25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12B30-9E11-4218-839C-6CAAF4BD9E96}"/>
              </a:ext>
            </a:extLst>
          </p:cNvPr>
          <p:cNvSpPr txBox="1"/>
          <p:nvPr/>
        </p:nvSpPr>
        <p:spPr>
          <a:xfrm>
            <a:off x="2943561" y="409110"/>
            <a:ext cx="6300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3060065" algn="ctr"/>
                <a:tab pos="6120765" algn="r"/>
              </a:tabLst>
            </a:pPr>
            <a:r>
              <a:rPr lang="uk-UA" sz="1200" spc="1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Aplikácia</a:t>
            </a:r>
            <a:r>
              <a:rPr lang="uk-UA" sz="1200" spc="1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200" spc="1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uk-UA" sz="1200" spc="1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4.0/5.0 v </a:t>
            </a:r>
            <a:r>
              <a:rPr lang="uk-UA" sz="1200" spc="1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praxi</a:t>
            </a:r>
            <a:r>
              <a:rPr lang="uk-UA" sz="1200" spc="1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n-US" sz="1200" spc="1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Filip </a:t>
            </a:r>
            <a:r>
              <a:rPr lang="en-US" sz="1200" spc="1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Fylyp</a:t>
            </a:r>
            <a:endParaRPr lang="uk-U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FA0E3479-1062-4BFB-A4DB-AEA5185DD21F}"/>
              </a:ext>
            </a:extLst>
          </p:cNvPr>
          <p:cNvCxnSpPr>
            <a:cxnSpLocks/>
          </p:cNvCxnSpPr>
          <p:nvPr/>
        </p:nvCxnSpPr>
        <p:spPr>
          <a:xfrm>
            <a:off x="2943561" y="686109"/>
            <a:ext cx="63001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8AC51C7-E5DC-424F-BC99-A098B6D94C69}"/>
              </a:ext>
            </a:extLst>
          </p:cNvPr>
          <p:cNvSpPr txBox="1"/>
          <p:nvPr/>
        </p:nvSpPr>
        <p:spPr>
          <a:xfrm>
            <a:off x="2735265" y="1793148"/>
            <a:ext cx="670083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Merateľný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progres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26-32% ↑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kapacity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€9,500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úspor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240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↓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čakania</a:t>
            </a:r>
            <a:endParaRPr lang="uk-U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Strategický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potenciál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$500B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globálne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úspory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transformácia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zdravotníctva</a:t>
            </a:r>
            <a:endParaRPr lang="uk-U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Industry 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5.0: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Kombinácia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personalizácie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uk-U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automatizácie</a:t>
            </a:r>
            <a:r>
              <a:rPr lang="uk-U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617293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</Words>
  <Application>Microsoft Office PowerPoint</Application>
  <PresentationFormat>Широкий екран</PresentationFormat>
  <Paragraphs>24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Тема Office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Филип Филип</dc:creator>
  <cp:lastModifiedBy>Филип Филип</cp:lastModifiedBy>
  <cp:revision>13</cp:revision>
  <cp:lastPrinted>2025-11-11T10:34:26Z</cp:lastPrinted>
  <dcterms:created xsi:type="dcterms:W3CDTF">2025-11-10T21:22:06Z</dcterms:created>
  <dcterms:modified xsi:type="dcterms:W3CDTF">2025-11-11T10:35:33Z</dcterms:modified>
</cp:coreProperties>
</file>